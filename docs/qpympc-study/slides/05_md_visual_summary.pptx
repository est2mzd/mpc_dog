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Quadruped-PyMPC  /  図と式で Markdown を要約する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速さ指令は、どう犬の12関節を回すか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本文（.md）の要約。図は犬・力・時間。箱の列ではない。
旧パワポ 01〜04 はそのまま残してある。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教育用要約  /  正本は docs/qpympc-study  /  01〜04 は残してある
対象: 四足MPCが初めての大学院生。口頭 45–70 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この資料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本文を、絵と式で短くしたもの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定義の正本は Markdown。ここは速習用。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残してある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 見出し速習。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見出し深掘り。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03 / 04 は先の要約。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このファイル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05。犬の姿。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力と式が体のどこか。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歩きの時間。閉ループの光景。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式の読み方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1式1ページ。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背景・意図・変数。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記号は表を見る。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図＝箱の列ではない。犬・地面・力の矢印・時間の帯を指す。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物体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これが、動かす犬である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Plant＝物体そのもの。予測の中の粗い模型とは別。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</a:t>
            </a:r>
          </a:p>
        </p:txBody>
      </p:sp>
      <p:pic>
        <p:nvPicPr>
          <p:cNvPr id="12" name="Picture 11" descr="go2_side_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627632"/>
            <a:ext cx="617220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920" y="1783080"/>
            <a:ext cx="429768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浮いている胴体と、12個の関節。
地面とは足の先だけで力をやり取りする。
胴体を直接押すモータは無い。
位置の数 19、速さの数 18、
モータは 12。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実行時の犬はシミュレータ同梱の模型。見た目の参照写真ではない。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式が体のどこか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回す力は関節。返す力は足の下。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4</a:t>
            </a:r>
          </a:p>
        </p:txBody>
      </p:sp>
      <p:pic>
        <p:nvPicPr>
          <p:cNvPr id="10" name="Picture 9" descr="dog_plant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368" y="1572768"/>
            <a:ext cx="9818783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τ＝関節を回す力。λ＝地面が返した力。mg＝重さ。目標の押し方を地面へ代入してはいない。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 全身の式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トルクと接触力で、次の体が決まる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胴体を押すモータは無い。足が地面を押した結果として、犬が動く。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12個の回す力を入れ、シミュレータが接触力と次の姿勢を求める。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pl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今の体の形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胴体の位置向き＋12関節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12個の回す力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各脚3関節のモータ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λ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地面が返す力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足の裏。制御の切替には使わない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重さと、重力・遠心力など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左辺＝体がどう加速したいか。右辺＝モータと地面からの入力。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01 / 06  2つの体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動かす犬と、未来を考える犬は別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6</a:t>
            </a:r>
          </a:p>
        </p:txBody>
      </p:sp>
      <p:pic>
        <p:nvPicPr>
          <p:cNvPr id="10" name="Picture 9" descr="plant_vs_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11521440" cy="37356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左＝関節がある物体。右＝質量点と4作用点。棒は無い。空中の力は重心の加速に入れない。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アーキテクチャ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光景で見る。箱の列ではない。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人の速さ → 今の犬 → 回す力 → 次の犬。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7</a:t>
            </a:r>
          </a:p>
        </p:txBody>
      </p:sp>
      <p:pic>
        <p:nvPicPr>
          <p:cNvPr id="12" name="Picture 11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51" y="1627632"/>
            <a:ext cx="10884217" cy="4160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アーキテクチャ＝誰が何を渡し、犬がどう動くか。左が人、中央が今、右が次の体。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2つの時計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速さの違う2本の時間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8</a:t>
            </a:r>
          </a:p>
        </p:txBody>
      </p:sp>
      <p:pic>
        <p:nvPicPr>
          <p:cNvPr id="10" name="Picture 9" descr="c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91640"/>
            <a:ext cx="11521440" cy="38872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秒間500回＝0.002秒ごと。秒間100回＝5回に1回だけ未来を解き直す。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指令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人は行き先を言わない。正面の速さだけ。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9</a:t>
            </a:r>
          </a:p>
        </p:txBody>
      </p:sp>
      <p:pic>
        <p:nvPicPr>
          <p:cNvPr id="10" name="Picture 9" descr="go2_top_hea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27632"/>
            <a:ext cx="5669280" cy="3779520"/>
          </a:xfrm>
          <a:prstGeom prst="rect">
            <a:avLst/>
          </a:prstGeom>
        </p:spPr>
      </p:pic>
      <p:pic>
        <p:nvPicPr>
          <p:cNvPr id="11" name="Picture 10" descr="heading_wor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27632"/>
            <a:ext cx="5852160" cy="21768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正面＝鼻先の前。地図＝床に固定した向き。ヨー＝その場の左旋回。床の上の行き先目標はゼロのまま。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03  座標の式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正面の速さを、地図の速さへ回す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人の「前へ」は地図の北ではない。同じ数字を足すと、曲がったあとずれる。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今の向きで速さを回し、計画が使う地図向きにする。行き先の位置は作らない。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v^H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人が言った前後・横の速さ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鼻先基準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いまどちらを向いているか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胴体の旋回角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R_z(ψ)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その向きで座標を回す道具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鉛直まわりだけ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v^W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地図から見た欲しい速さ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計画が読む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H＝正面。W＝地図。床の上の行き先目標はゼロのまま。速さだけ追う。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歩き方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対角の2脚が地面。あとの2脚は空中。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024128"/>
            <a:ext cx="11430000" cy="50292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55680" cy="43891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要点  地面にいる割合が 0.74 なので、切替の前後は4脚が重なる。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11</a:t>
            </a:r>
          </a:p>
        </p:txBody>
      </p:sp>
      <p:pic>
        <p:nvPicPr>
          <p:cNvPr id="12" name="Picture 11" descr="go2_trot_diag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1627632"/>
            <a:ext cx="6172200" cy="411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23760" y="1783080"/>
            <a:ext cx="4526280" cy="3840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Trot＝対角が組。
左前と右後が一緒（offset 0.5）。
右前と左後が一緒（offset 1.0）。
いつ上げるかは、
押し方の計算より先に決まる。
計算はリズムを選べない。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立脚＝地面で押してよい足。遊脚＝空中で次の点へ運ぶ足。脚順は FL, FR, RL, RR。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時間の帯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色がついているあいだ、その足は押してよい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</a:t>
            </a:r>
          </a:p>
        </p:txBody>
      </p:sp>
      <p:pic>
        <p:nvPicPr>
          <p:cNvPr id="10" name="Picture 9" descr="trot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76" y="1572768"/>
            <a:ext cx="10081967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1歩を 0〜1 とする。色の長さが Duty＝地面にいる割合（標準 0.74）。周波数は 1.35。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04  リズムの式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時計を進め、地面にいる割合より小さければ接地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4脚を同時につけたままでは速く歩けない。いつ押すかを、力の計算より先に決める。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時間だけから 0/1 を切り、短い未来の表も同じ規則で作る。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ga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φ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その脚が1歩のどのあたりか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脚ごと。0が始まり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1秒に何歩サイクルか。標準 1.35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設定。今日は固定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d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1歩のうち地面にいる割合 0.74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長いほど4脚が重なる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1＝押してよい、0＝空中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押し方の計算は変えられない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mod 1＝一周したら0に戻す。1( )＝中が正しければ1。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着地点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リズムは時刻だけ。次に置く場所は別。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14</a:t>
            </a:r>
          </a:p>
        </p:txBody>
      </p:sp>
      <p:pic>
        <p:nvPicPr>
          <p:cNvPr id="10" name="Picture 9" descr="foot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9" y="1572768"/>
            <a:ext cx="10515600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腰の下へ、進む先と速さのずれを足す。地形を見ない標準では、届かなくても目標のまま。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05  着地点の式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腰の下へ、進む先とずれと左右ずらしを足す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足を上げる時刻が決まっても、着く場所は決まらない。速さ方向へ出さないと、胴体が脚を追い越す。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正面座標で組み、最後に地図へ戻す。使う速さは、傾きで回す前。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fo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p_hip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その脚の腰の位置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胴体の四隅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立脚時間の半分×欲しい速さ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進む先へ出す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Δp_err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今の速さと欲しい速さのずれ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クリップあり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p_foot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次に置く点の候補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保証はしない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左右へ 0.1 m ずらす。高さは足を上げたときの高さをコピーする。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予測の中の体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未来では質量点と4作用点だけ。形も、足と重心を結ぶ棒も無い。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16</a:t>
            </a:r>
          </a:p>
        </p:txBody>
      </p:sp>
      <p:pic>
        <p:nvPicPr>
          <p:cNvPr id="10" name="Picture 9" descr="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012" y="1572768"/>
            <a:ext cx="9877495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力は接地点で世界向きに働く。重心へは合力とモーメント。リンク方向には伝わらない。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06  胴体の式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押せる足の力だけが、重心を加速する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モータは予測模型に無い。力は接地点で世界向きに働く。棒を伝う力ではない。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接地フラグを力に掛け、合力で重心を加速する。モーメントは r×F。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sr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m, v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重さと重心の速さ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胴体の中心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その足は今押してよいか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リズムの表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F_i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その足が押す力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足先。空中でも変数としては残る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重力加速度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下向き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回転も同様に、押せる足の力のモーメントだけが入る。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滑らない範囲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足の力は、円すいの内側に収める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18</a:t>
            </a:r>
          </a:p>
        </p:txBody>
      </p:sp>
      <p:pic>
        <p:nvPicPr>
          <p:cNvPr id="10" name="Picture 9" descr="fri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72768"/>
            <a:ext cx="11521440" cy="413189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摩擦円すい。4脚すべてに置く。空中の力を等式でゼロにはしていない。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/ 09  未来と今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12コマ先まで考える。使うのは最初の1コマ。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19</a:t>
            </a:r>
          </a:p>
        </p:txBody>
      </p:sp>
      <p:pic>
        <p:nvPicPr>
          <p:cNvPr id="10" name="Picture 9" descr="rece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81" y="1783080"/>
            <a:ext cx="11028556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1コマ 0.02 秒、先は 0.24 秒。次の瞬間に新しい体で解き直す。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07  未来の罰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目標へ寄せ、押し方を抑え、終わりも同じ重み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今の1発だけでは次の接地に間に合わない。罰が無いと力はいくらでも大きくなる。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12コマの体と押し方を目標へ寄せる。終わりの重みも途中と同じ。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o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x_k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コマ k の胴体と足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関節は入らない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x^ref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いてほしい体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速さ指令と着地点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u_k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足の速さと押す力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回す力はまだ無い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ずれと力を何倍して罰するか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重み関数の中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設定ファイルに Q は無い。失敗したら直前の押し方を使い、内部をリセットする。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08 / 09  リズムが力を消す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計算は4足ぶん出す。今地面の足だけ残す。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21</a:t>
            </a:r>
          </a:p>
        </p:txBody>
      </p:sp>
      <p:pic>
        <p:nvPicPr>
          <p:cNvPr id="10" name="Picture 9" descr="gait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663" y="1572768"/>
            <a:ext cx="10448192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未来の表 c は力学へ入る。実行へ渡すとき、今の接地 0/1 をもう一度掛ける。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今使う力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今地面の足の、先頭の押し方だけ残す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未来全部はモータに出せない。空中の足の力が残ると、足が地面を探す。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今の接地 0/1 を掛けて消す。5回に1回解き、間は直前の値。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F^{MPC}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計算が出した押す力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最適解の最初のコマ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c_0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今この瞬間、地面にいてよいか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リズム表の先頭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実際に使う目標の押す力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地面の足だけ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計算の中では空中の力も残り得る。実行へ渡すとき 0 にする。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09  3つの力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同じ足でも、目標と実力は別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23</a:t>
            </a:r>
          </a:p>
        </p:txBody>
      </p:sp>
      <p:pic>
        <p:nvPicPr>
          <p:cNvPr id="10" name="Picture 9" descr="three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45" y="1600200"/>
            <a:ext cx="10974829" cy="41605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左＝計算の答え。中＝実行が使う。右＝シミュレータが接触で作った力。切替には使わない。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1本の脚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押す力を、3つの回す力へ写す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24</a:t>
            </a:r>
          </a:p>
        </p:txBody>
      </p:sp>
      <p:pic>
        <p:nvPicPr>
          <p:cNvPr id="10" name="Picture 9" descr="leg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912" y="1572768"/>
            <a:ext cx="9785695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モータは足先には無い。空中の足はこの式を捨て、次の点へ運ぶ力で上書きする。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10  立脚の式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足先の力を、関節の仕事へ写す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モータは関節にある。同じ式を空中の足に残すと、空中で押し続ける。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全脚に先に書き、空中の足だけ上書きする。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F^{cmd}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今使う目標の押す力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足先。空中は 0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関節が動くと足先がどう動くか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今の脚の形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その脚3関節の回す力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モータへ出す数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位置のずれを戻す力は、空中の足に同じものが2回足される。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閉ループ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切って入れ、1歩進み、次の体が戻る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26</a:t>
            </a:r>
          </a:p>
        </p:txBody>
      </p:sp>
      <p:pic>
        <p:nvPicPr>
          <p:cNvPr id="10" name="Picture 9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44" y="1572768"/>
            <a:ext cx="11123431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定格の 0.9 倍で切る。物体を進める計算は1回。実際の接触力は切替に使わない。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11  切り方と1歩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上限の 90% で切り、物体を1コマ進める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24128"/>
            <a:ext cx="566928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060704"/>
            <a:ext cx="544982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背景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544982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定格超えは模型の外。目標の力を地面へ書くと、物体が嘘をつく。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024128"/>
            <a:ext cx="5623560" cy="1051560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060704"/>
            <a:ext cx="5404104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意図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1298448"/>
            <a:ext cx="5404104" cy="7132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並べる前に切り、1回だけ進める。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194560"/>
            <a:ext cx="11430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v_c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04288"/>
            <a:ext cx="11155680" cy="134465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3364992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2A6F6F"/>
                </a:solidFill>
                <a:latin typeface="Noto Sans CJK JP"/>
                <a:ea typeface="Noto Sans CJK JP"/>
                <a:cs typeface="Noto Sans CJK JP"/>
              </a:rPr>
              <a:t>変数説明  （記号を覚えなくてよい。この表を見る）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3584448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記号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意味（覚えなくてよい）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犬のどこ</a:t>
                      </a:r>
                    </a:p>
                  </a:txBody>
                  <a:tcPr>
                    <a:solidFill>
                      <a:srgbClr val="1B3A4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切る前の12個の回す力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12モータ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τ_lim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出せると書いてある上限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物体の説明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q, q+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今の形と次の形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1E24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次の周回で読み直す</a:t>
                      </a:r>
                    </a:p>
                  </a:txBody>
                  <a:tcPr>
                    <a:solidFill>
                      <a:srgbClr val="EEEAE2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実機の電気や遅延はこの物体には入っていない。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12  速さと歩幅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速さは、歩数かける1歩の長さ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28</a:t>
            </a:r>
          </a:p>
        </p:txBody>
      </p:sp>
      <p:pic>
        <p:nvPicPr>
          <p:cNvPr id="10" name="Picture 9" descr="str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758" y="1572768"/>
            <a:ext cx="9596002" cy="425196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周波数の候補は速さを決めない。標準では歩数は固定。候補を出す枝はオフ。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02  出口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絵で答える5つ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人は何を言うか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行き先ではない。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正面の速さと、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その場の旋回。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リズムは誰か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足の時計。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未来計算は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逆の組を選べない。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計算が決めるもの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押す力と足運び。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12関節角は決めない。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943600"/>
            <a:ext cx="11521440" cy="621792"/>
          </a:xfrm>
          <a:prstGeom prst="roundRect">
            <a:avLst/>
          </a:prstGeom>
          <a:solidFill>
            <a:srgbClr val="EEEAE2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961888"/>
            <a:ext cx="11338560" cy="58521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i="0">
                <a:solidFill>
                  <a:srgbClr val="5A606E"/>
                </a:solidFill>
                <a:latin typeface="Noto Sans CJK JP"/>
                <a:ea typeface="Noto Sans CJK JP"/>
                <a:cs typeface="Noto Sans CJK JP"/>
              </a:rPr>
              <a:t>※ 答えの正本は 02 §6。目標の力と地面の実力は別。周波数の候補は速さを決めない。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4864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30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8D4D4"/>
                </a:solidFill>
                <a:latin typeface="Noto Sans CJK JP"/>
                <a:ea typeface="Noto Sans CJK JP"/>
                <a:cs typeface="Noto Sans CJK JP"/>
              </a:rPr>
              <a:t>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9184"/>
            <a:ext cx="11430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要約の次は、本文か、残してあるファイル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96012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要約速習  ·  犬の絵と式  ·  01〜04 は別ファイル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601968"/>
            <a:ext cx="1371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3700272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本文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定義と境界表。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が矢印の正本。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式の場所は付録 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30624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30624" y="1691640"/>
            <a:ext cx="3700272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6928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残してあるパワポ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6928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01 見出し速習。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02 見出し深掘り。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03 / 04 は先の要約。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5488" y="1691640"/>
            <a:ext cx="3700272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4CF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5488" y="1691640"/>
            <a:ext cx="3700272" cy="73152"/>
          </a:xfrm>
          <a:prstGeom prst="rect">
            <a:avLst/>
          </a:prstGeom>
          <a:solidFill>
            <a:srgbClr val="C45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1792" y="1856232"/>
            <a:ext cx="3425952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B3A4B"/>
                </a:solidFill>
                <a:latin typeface="Noto Sans CJK JP"/>
                <a:ea typeface="Noto Sans CJK JP"/>
                <a:cs typeface="Noto Sans CJK JP"/>
              </a:rPr>
              <a:t>この系統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1792" y="2514600"/>
            <a:ext cx="3425952" cy="2971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05 が図と式の速習。</a:t>
            </a:r>
          </a:p>
          <a:p>
            <a:pPr>
              <a:spcBef>
                <a:spcPts val="500"/>
              </a:spcBef>
            </a:pPr>
            <a:r>
              <a:rPr sz="1300" b="0" i="0">
                <a:solidFill>
                  <a:srgbClr val="1E1E24"/>
                </a:solidFill>
                <a:latin typeface="Noto Sans CJK JP"/>
                <a:ea typeface="Noto Sans CJK JP"/>
                <a:cs typeface="Noto Sans CJK JP"/>
              </a:rPr>
              <a:t>06 が章ごとの絵と式。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