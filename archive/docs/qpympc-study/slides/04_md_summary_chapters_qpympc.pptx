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Quadruped-PyMPC  /  Markdown 要約  ·  図と式で速習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10972800" cy="1463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各 Markdown を、1枚の絵と1つの式に縮める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566160"/>
            <a:ext cx="105156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00 から 19 まで、本文の結論だけを追う。
見出しの全節は写さない。01 / 02 は残してある。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852160"/>
            <a:ext cx="10515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要約  /  正本: docs/qpympc-study  /  01・02 は別ファイル（残置）
自習 90–150 分。口頭なら章を選ぶ。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目次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本文のファイル順。各章は要約2枚まで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章ごと要約  ·  図と式  ·  00–19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2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65760" y="1691640"/>
          <a:ext cx="11430000" cy="3977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568234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章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一言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このデッキの型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</a:tr>
              <a:tr h="568234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00–02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入口と矢印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絵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568234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03–05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速さ・リズム・着地点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絵＋式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8234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06–09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粗い模型と未来計算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式多め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568234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10–11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回す力と物体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絵＋式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8234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12–15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歩幅・地形・調整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式または絵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568235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16–19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地図・手順・実験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詳細が要るときは、同じ番号の Markdown を開く。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00  00_README.md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97280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入口の要約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749039"/>
            <a:ext cx="1051560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0">
                <a:solidFill>
                  <a:srgbClr val="D7E0E0"/>
                </a:solidFill>
                <a:latin typeface="Noto Sans CJK JP"/>
                <a:ea typeface="Noto Sans CJK JP"/>
                <a:cs typeface="Noto Sans CJK JP"/>
              </a:rPr>
              <a:t>何を教え、何を混ぜないか。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309360"/>
            <a:ext cx="6400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学習の3本道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章ごと要約  ·  図と式  ·  00–19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1737360"/>
            <a:ext cx="3767328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737360"/>
            <a:ext cx="3767328" cy="292608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737360"/>
            <a:ext cx="3767328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最短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4" y="2084831"/>
            <a:ext cx="36576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速さ→リズム→押し方→回す力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4" y="2578608"/>
            <a:ext cx="36576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この速習の道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14216" y="2368296"/>
            <a:ext cx="256032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&gt;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97096" y="1737360"/>
            <a:ext cx="3767328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97096" y="1737360"/>
            <a:ext cx="3767328" cy="292608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97096" y="1737360"/>
            <a:ext cx="3767328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理論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51960" y="2084831"/>
            <a:ext cx="36576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物体→粗い模型→問題→結合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51960" y="2578608"/>
            <a:ext cx="36576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06–10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91272" y="2368296"/>
            <a:ext cx="256032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&gt;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74152" y="1737360"/>
            <a:ext cx="3767328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74152" y="1737360"/>
            <a:ext cx="3767328" cy="292608"/>
          </a:xfrm>
          <a:prstGeom prst="rect">
            <a:avLst/>
          </a:prstGeom>
          <a:solidFill>
            <a:srgbClr val="C45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74152" y="1737360"/>
            <a:ext cx="3767328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研究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29016" y="2084831"/>
            <a:ext cx="36576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記録→調整→地形→比較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29016" y="2578608"/>
            <a:ext cx="36576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14–18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実装事実 / 理論 / 推奨 / 未確認を混ぜない。未確認は付録 F。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01  01_MuJoCo_Go2_Plant_Model.md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97280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動かす物体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749039"/>
            <a:ext cx="1051560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0">
                <a:solidFill>
                  <a:srgbClr val="D7E0E0"/>
                </a:solidFill>
                <a:latin typeface="Noto Sans CJK JP"/>
                <a:ea typeface="Noto Sans CJK JP"/>
                <a:cs typeface="Noto Sans CJK JP"/>
              </a:rPr>
              <a:t>実行時の犬は、教材用モデル同梱の説明ファイル。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309360"/>
            <a:ext cx="6400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物体の絵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章ごと要約  ·  図と式  ·  00–19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691640"/>
            <a:ext cx="3700272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691640"/>
            <a:ext cx="3700272" cy="73152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2064" y="1856232"/>
            <a:ext cx="342595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" y="2514600"/>
            <a:ext cx="3425952" cy="2971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位置 19、速さ 18、指令 12。</a:t>
            </a:r>
          </a:p>
          <a:p>
            <a:pPr>
              <a:spcBef>
                <a:spcPts val="5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浮いている胴体＋関節12。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30624" y="1691640"/>
            <a:ext cx="3700272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30624" y="1691640"/>
            <a:ext cx="3700272" cy="7315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76928" y="1856232"/>
            <a:ext cx="342595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入出力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76928" y="2514600"/>
            <a:ext cx="3425952" cy="2971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入るのは切済み12トルク。</a:t>
            </a:r>
          </a:p>
          <a:p>
            <a:pPr>
              <a:spcBef>
                <a:spcPts val="5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出るのは次の体と足と動きやすさ。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5488" y="1691640"/>
            <a:ext cx="3700272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95488" y="1691640"/>
            <a:ext cx="3700272" cy="73152"/>
          </a:xfrm>
          <a:prstGeom prst="rect">
            <a:avLst/>
          </a:prstGeom>
          <a:solidFill>
            <a:srgbClr val="C45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41792" y="1856232"/>
            <a:ext cx="342595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入っていない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41792" y="2514600"/>
            <a:ext cx="3425952" cy="2971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モータの電気、通信遅れ。</a:t>
            </a:r>
          </a:p>
          <a:p>
            <a:pPr>
              <a:spcBef>
                <a:spcPts val="5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実機のばね、足裏ゴム。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センサ値の配列は標準では読まない。別配布の犬モデルは実行時未ロード。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02  02_System_Architecture_and_Dataflow.md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97280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1周の順番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749039"/>
            <a:ext cx="1051560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0">
                <a:solidFill>
                  <a:srgbClr val="D7E0E0"/>
                </a:solidFill>
                <a:latin typeface="Noto Sans CJK JP"/>
                <a:ea typeface="Noto Sans CJK JP"/>
                <a:cs typeface="Noto Sans CJK JP"/>
              </a:rPr>
              <a:t>境界と周期の正本。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309360"/>
            <a:ext cx="6400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5つの塊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章ごと要約  ·  図と式  ·  00–19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1737360"/>
            <a:ext cx="2216505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737360"/>
            <a:ext cx="2216505" cy="292608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737360"/>
            <a:ext cx="2216505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指令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4" y="2084831"/>
            <a:ext cx="2106777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速さ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4" y="2578608"/>
            <a:ext cx="2106777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3393" y="2368296"/>
            <a:ext cx="256032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&gt;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646273" y="1737360"/>
            <a:ext cx="2216505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646273" y="1737360"/>
            <a:ext cx="2216505" cy="292608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46273" y="1737360"/>
            <a:ext cx="2216505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状態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01137" y="2084831"/>
            <a:ext cx="2106777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今の体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01137" y="2578608"/>
            <a:ext cx="2106777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get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89626" y="2368296"/>
            <a:ext cx="256032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&gt;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972507" y="1737360"/>
            <a:ext cx="2216505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972507" y="1737360"/>
            <a:ext cx="2216505" cy="292608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72507" y="1737360"/>
            <a:ext cx="2216505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リズムと足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7371" y="2084831"/>
            <a:ext cx="2106777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表と着地点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7371" y="2578608"/>
            <a:ext cx="2106777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04–05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15860" y="2368296"/>
            <a:ext cx="256032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&gt;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298740" y="1737360"/>
            <a:ext cx="2216505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298740" y="1737360"/>
            <a:ext cx="2216505" cy="292608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98740" y="1737360"/>
            <a:ext cx="2216505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計画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53604" y="2084831"/>
            <a:ext cx="2106777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今の押し方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53604" y="2578608"/>
            <a:ext cx="2106777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07–09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42093" y="2368296"/>
            <a:ext cx="256032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&gt;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624974" y="1737360"/>
            <a:ext cx="2216505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624974" y="1737360"/>
            <a:ext cx="2216505" cy="292608"/>
          </a:xfrm>
          <a:prstGeom prst="rect">
            <a:avLst/>
          </a:prstGeom>
          <a:solidFill>
            <a:srgbClr val="C45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24974" y="1737360"/>
            <a:ext cx="2216505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実行と物体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79838" y="2084831"/>
            <a:ext cx="2106777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回す力→次の体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79838" y="2578608"/>
            <a:ext cx="2106777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10–11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今の体を組むのは速さ抑制の前。切るのは指令を並べる前。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03  03_User_Command_and_Reference_Generation.md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97280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人が速さだけ言う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749039"/>
            <a:ext cx="1051560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0">
                <a:solidFill>
                  <a:srgbClr val="D7E0E0"/>
                </a:solidFill>
                <a:latin typeface="Noto Sans CJK JP"/>
                <a:ea typeface="Noto Sans CJK JP"/>
                <a:cs typeface="Noto Sans CJK JP"/>
              </a:rPr>
              <a:t>本文の結論の要約。節は写さない。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309360"/>
            <a:ext cx="6400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要約: 背景・意図・置き場・流れ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章ごと要約  ·  図と式  ·  00–19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097280"/>
            <a:ext cx="5632704" cy="22905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097280"/>
            <a:ext cx="91440" cy="2290572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1188720"/>
            <a:ext cx="531266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背景  なぜこの問題があるか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1554480"/>
            <a:ext cx="5285232" cy="172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「前へ」は正面。地図の北ではない。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6" y="1097280"/>
            <a:ext cx="5632704" cy="22905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63056" y="1097280"/>
            <a:ext cx="91440" cy="229057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64224" y="1188720"/>
            <a:ext cx="531266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意図  何を達成したいか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64224" y="1554480"/>
            <a:ext cx="5285232" cy="172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正面の速さを地図向きの目標へする。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3515868"/>
            <a:ext cx="5632704" cy="22905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3515868"/>
            <a:ext cx="91440" cy="2290572"/>
          </a:xfrm>
          <a:prstGeom prst="rect">
            <a:avLst/>
          </a:prstGeom>
          <a:solidFill>
            <a:srgbClr val="C45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3607308"/>
            <a:ext cx="531266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C45A20"/>
                </a:solidFill>
                <a:latin typeface="Noto Sans CJK JP"/>
                <a:ea typeface="Noto Sans CJK JP"/>
                <a:cs typeface="Noto Sans CJK JP"/>
              </a:rPr>
              <a:t>アーキ  どこに置き、何と繋ぐか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3973068"/>
            <a:ext cx="5285232" cy="172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周回が覚え、向きを回す箱が翻訳する。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6" y="3515868"/>
            <a:ext cx="5632704" cy="22905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63056" y="3515868"/>
            <a:ext cx="91440" cy="2290572"/>
          </a:xfrm>
          <a:prstGeom prst="rect">
            <a:avLst/>
          </a:prstGeom>
          <a:solidFill>
            <a:srgbClr val="B48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64224" y="3607308"/>
            <a:ext cx="531266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B48A28"/>
                </a:solidFill>
                <a:latin typeface="Noto Sans CJK JP"/>
                <a:ea typeface="Noto Sans CJK JP"/>
                <a:cs typeface="Noto Sans CJK JP"/>
              </a:rPr>
              <a:t>データの流れ  何が入り、何が出るか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64224" y="3973068"/>
            <a:ext cx="5285232" cy="172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正面 → 地図。着地点のあと傾き。行き先 xy はゼロ。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Heading=正面。Yaw=その場の旋回。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04  04_Gait_Generator_and_Contact_Schedule.md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97280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いつ押してよいかを先に決める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749039"/>
            <a:ext cx="1051560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0">
                <a:solidFill>
                  <a:srgbClr val="D7E0E0"/>
                </a:solidFill>
                <a:latin typeface="Noto Sans CJK JP"/>
                <a:ea typeface="Noto Sans CJK JP"/>
                <a:cs typeface="Noto Sans CJK JP"/>
              </a:rPr>
              <a:t>本文の結論の要約。節は写さない。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309360"/>
            <a:ext cx="6400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要約: 背景・意図・置き場・流れ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章ごと要約  ·  図と式  ·  00–19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097280"/>
            <a:ext cx="5632704" cy="22905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097280"/>
            <a:ext cx="91440" cy="2290572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1188720"/>
            <a:ext cx="531266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背景  なぜこの問題があるか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1554480"/>
            <a:ext cx="5285232" cy="172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4脚固定では速く歩けない。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6" y="1097280"/>
            <a:ext cx="5632704" cy="22905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63056" y="1097280"/>
            <a:ext cx="91440" cy="229057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64224" y="1188720"/>
            <a:ext cx="531266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意図  何を達成したいか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64224" y="1554480"/>
            <a:ext cx="5285232" cy="172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今と短い未来の 0/1 を固定する。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3515868"/>
            <a:ext cx="5632704" cy="22905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3515868"/>
            <a:ext cx="91440" cy="2290572"/>
          </a:xfrm>
          <a:prstGeom prst="rect">
            <a:avLst/>
          </a:prstGeom>
          <a:solidFill>
            <a:srgbClr val="C45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3607308"/>
            <a:ext cx="531266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C45A20"/>
                </a:solidFill>
                <a:latin typeface="Noto Sans CJK JP"/>
                <a:ea typeface="Noto Sans CJK JP"/>
                <a:cs typeface="Noto Sans CJK JP"/>
              </a:rPr>
              <a:t>アーキ  どこに置き、何と繋ぐか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3973068"/>
            <a:ext cx="5285232" cy="172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リズムを進める箱。表を切る箱。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6" y="3515868"/>
            <a:ext cx="5632704" cy="22905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63056" y="3515868"/>
            <a:ext cx="91440" cy="2290572"/>
          </a:xfrm>
          <a:prstGeom prst="rect">
            <a:avLst/>
          </a:prstGeom>
          <a:solidFill>
            <a:srgbClr val="B48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64224" y="3607308"/>
            <a:ext cx="531266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B48A28"/>
                </a:solidFill>
                <a:latin typeface="Noto Sans CJK JP"/>
                <a:ea typeface="Noto Sans CJK JP"/>
                <a:cs typeface="Noto Sans CJK JP"/>
              </a:rPr>
              <a:t>データの流れ  何が入り、何が出るか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64224" y="3973068"/>
            <a:ext cx="5285232" cy="172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時刻 → 接地表。力の計算は変えられない。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対角歩き。地面割合 0.74 で4脚が重なる。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05  05_Foothold_Reference_and_Terrain_Adaptation.md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97280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次に足を置く候補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749039"/>
            <a:ext cx="1051560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0">
                <a:solidFill>
                  <a:srgbClr val="D7E0E0"/>
                </a:solidFill>
                <a:latin typeface="Noto Sans CJK JP"/>
                <a:ea typeface="Noto Sans CJK JP"/>
                <a:cs typeface="Noto Sans CJK JP"/>
              </a:rPr>
              <a:t>本文の結論の要約。節は写さない。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309360"/>
            <a:ext cx="6400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要約: 背景・意図・置き場・流れ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章ごと要約  ·  図と式  ·  00–19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097280"/>
            <a:ext cx="5632704" cy="22905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097280"/>
            <a:ext cx="91440" cy="2290572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1188720"/>
            <a:ext cx="531266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背景  なぜこの問題があるか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1554480"/>
            <a:ext cx="5285232" cy="172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時刻だけでは、場所が決まらない。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6" y="1097280"/>
            <a:ext cx="5632704" cy="22905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63056" y="1097280"/>
            <a:ext cx="91440" cy="229057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64224" y="1188720"/>
            <a:ext cx="531266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意図  何を達成したいか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64224" y="1554480"/>
            <a:ext cx="5285232" cy="172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腰と速さから候補を作る。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3515868"/>
            <a:ext cx="5632704" cy="22905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3515868"/>
            <a:ext cx="91440" cy="2290572"/>
          </a:xfrm>
          <a:prstGeom prst="rect">
            <a:avLst/>
          </a:prstGeom>
          <a:solidFill>
            <a:srgbClr val="C45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3607308"/>
            <a:ext cx="531266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C45A20"/>
                </a:solidFill>
                <a:latin typeface="Noto Sans CJK JP"/>
                <a:ea typeface="Noto Sans CJK JP"/>
                <a:cs typeface="Noto Sans CJK JP"/>
              </a:rPr>
              <a:t>アーキ  どこに置き、何と繋ぐか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3973068"/>
            <a:ext cx="5285232" cy="172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上げた位置を覚える箱。候補を足す箱。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6" y="3515868"/>
            <a:ext cx="5632704" cy="22905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63056" y="3515868"/>
            <a:ext cx="91440" cy="2290572"/>
          </a:xfrm>
          <a:prstGeom prst="rect">
            <a:avLst/>
          </a:prstGeom>
          <a:solidFill>
            <a:srgbClr val="B48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64224" y="3607308"/>
            <a:ext cx="531266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B48A28"/>
                </a:solidFill>
                <a:latin typeface="Noto Sans CJK JP"/>
                <a:ea typeface="Noto Sans CJK JP"/>
                <a:cs typeface="Noto Sans CJK JP"/>
              </a:rPr>
              <a:t>データの流れ  何が入り、何が出るか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64224" y="3973068"/>
            <a:ext cx="5285232" cy="172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傾き前の速さ → 着地点。地形は見ない。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保証しない。穴の縁でも目標のまま。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06  06_Centroidal_SRBD_Model.md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97280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予測の中の粗い体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749039"/>
            <a:ext cx="1051560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0">
                <a:solidFill>
                  <a:srgbClr val="D7E0E0"/>
                </a:solidFill>
                <a:latin typeface="Noto Sans CJK JP"/>
                <a:ea typeface="Noto Sans CJK JP"/>
                <a:cs typeface="Noto Sans CJK JP"/>
              </a:rPr>
              <a:t>本文の結論の要約。節は写さない。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309360"/>
            <a:ext cx="6400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要約: 背景・意図・置き場・流れ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章ごと要約  ·  図と式  ·  00–19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097280"/>
            <a:ext cx="5632704" cy="22905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097280"/>
            <a:ext cx="91440" cy="2290572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1188720"/>
            <a:ext cx="531266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背景  なぜこの問題があるか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1554480"/>
            <a:ext cx="5285232" cy="172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12関節を短時間予測すると重い。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6" y="1097280"/>
            <a:ext cx="5632704" cy="22905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63056" y="1097280"/>
            <a:ext cx="91440" cy="229057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64224" y="1188720"/>
            <a:ext cx="531266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意図  何を達成したいか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64224" y="1554480"/>
            <a:ext cx="5285232" cy="172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胴体と4足先で押し方を考える。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3515868"/>
            <a:ext cx="5632704" cy="22905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3515868"/>
            <a:ext cx="91440" cy="2290572"/>
          </a:xfrm>
          <a:prstGeom prst="rect">
            <a:avLst/>
          </a:prstGeom>
          <a:solidFill>
            <a:srgbClr val="C45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3607308"/>
            <a:ext cx="531266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C45A20"/>
                </a:solidFill>
                <a:latin typeface="Noto Sans CJK JP"/>
                <a:ea typeface="Noto Sans CJK JP"/>
                <a:cs typeface="Noto Sans CJK JP"/>
              </a:rPr>
              <a:t>アーキ  どこに置き、何と繋ぐか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3973068"/>
            <a:ext cx="5285232" cy="172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粗い力学のファイル。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6" y="3515868"/>
            <a:ext cx="5632704" cy="22905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63056" y="3515868"/>
            <a:ext cx="91440" cy="2290572"/>
          </a:xfrm>
          <a:prstGeom prst="rect">
            <a:avLst/>
          </a:prstGeom>
          <a:solidFill>
            <a:srgbClr val="B48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64224" y="3607308"/>
            <a:ext cx="531266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B48A28"/>
                </a:solidFill>
                <a:latin typeface="Noto Sans CJK JP"/>
                <a:ea typeface="Noto Sans CJK JP"/>
                <a:cs typeface="Noto Sans CJK JP"/>
              </a:rPr>
              <a:t>データの流れ  何が入り、何が出るか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64224" y="3973068"/>
            <a:ext cx="5285232" cy="172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体と力と既知の数 → 次の体。空中の力は加速に入らない。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物体（全身）とは別。近接の係数はいつも0。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07  07_MPC_Formulation.md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97280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未来12コマを一度に決める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749039"/>
            <a:ext cx="1051560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0">
                <a:solidFill>
                  <a:srgbClr val="D7E0E0"/>
                </a:solidFill>
                <a:latin typeface="Noto Sans CJK JP"/>
                <a:ea typeface="Noto Sans CJK JP"/>
                <a:cs typeface="Noto Sans CJK JP"/>
              </a:rPr>
              <a:t>本文の結論の要約。節は写さない。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309360"/>
            <a:ext cx="6400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要約: 背景・意図・置き場・流れ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章ごと要約  ·  図と式  ·  00–19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097280"/>
            <a:ext cx="5632704" cy="22905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097280"/>
            <a:ext cx="91440" cy="2290572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1188720"/>
            <a:ext cx="531266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背景  なぜこの問題があるか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1554480"/>
            <a:ext cx="5285232" cy="172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今の1発だけでは次の接地に間に合わない。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6" y="1097280"/>
            <a:ext cx="5632704" cy="22905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63056" y="1097280"/>
            <a:ext cx="91440" cy="229057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64224" y="1188720"/>
            <a:ext cx="531266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意図  何を達成したいか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64224" y="1554480"/>
            <a:ext cx="5285232" cy="172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ずれを罰し、滑らない範囲に守る。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3515868"/>
            <a:ext cx="5632704" cy="22905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3515868"/>
            <a:ext cx="91440" cy="2290572"/>
          </a:xfrm>
          <a:prstGeom prst="rect">
            <a:avLst/>
          </a:prstGeom>
          <a:solidFill>
            <a:srgbClr val="C45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3607308"/>
            <a:ext cx="531266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C45A20"/>
                </a:solidFill>
                <a:latin typeface="Noto Sans CJK JP"/>
                <a:ea typeface="Noto Sans CJK JP"/>
                <a:cs typeface="Noto Sans CJK JP"/>
              </a:rPr>
              <a:t>アーキ  どこに置き、何と繋ぐか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3973068"/>
            <a:ext cx="5285232" cy="172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未来を解く箱。重みは重み関数。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6" y="3515868"/>
            <a:ext cx="5632704" cy="22905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63056" y="3515868"/>
            <a:ext cx="91440" cy="2290572"/>
          </a:xfrm>
          <a:prstGeom prst="rect">
            <a:avLst/>
          </a:prstGeom>
          <a:solidFill>
            <a:srgbClr val="B48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64224" y="3607308"/>
            <a:ext cx="531266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B48A28"/>
                </a:solidFill>
                <a:latin typeface="Noto Sans CJK JP"/>
                <a:ea typeface="Noto Sans CJK JP"/>
                <a:cs typeface="Noto Sans CJK JP"/>
              </a:rPr>
              <a:t>データの流れ  何が入り、何が出るか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64224" y="3973068"/>
            <a:ext cx="5285232" cy="172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今の体・目標・表 → 系列。失敗なら直前の押し方。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終わりの罰も途中と同じ。別の終わり専用は無い。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08  08_Gait_MPC_Coupling.md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97280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リズムを力学の既知にする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749039"/>
            <a:ext cx="1051560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0">
                <a:solidFill>
                  <a:srgbClr val="D7E0E0"/>
                </a:solidFill>
                <a:latin typeface="Noto Sans CJK JP"/>
                <a:ea typeface="Noto Sans CJK JP"/>
                <a:cs typeface="Noto Sans CJK JP"/>
              </a:rPr>
              <a:t>本文の結論の要約。節は写さない。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309360"/>
            <a:ext cx="6400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要約: 背景・意図・置き場・流れ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章ごと要約  ·  図と式  ·  00–19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20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097280"/>
            <a:ext cx="5632704" cy="22905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097280"/>
            <a:ext cx="91440" cy="2290572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1188720"/>
            <a:ext cx="531266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背景  なぜこの問題があるか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1554480"/>
            <a:ext cx="5285232" cy="172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リズムを計算に選ばせると歩きが壊れる。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6" y="1097280"/>
            <a:ext cx="5632704" cy="22905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63056" y="1097280"/>
            <a:ext cx="91440" cy="229057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64224" y="1188720"/>
            <a:ext cx="531266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意図  何を達成したいか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64224" y="1554480"/>
            <a:ext cx="5285232" cy="172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各コマに押してよい足を書き込む。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3515868"/>
            <a:ext cx="5632704" cy="22905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3515868"/>
            <a:ext cx="91440" cy="2290572"/>
          </a:xfrm>
          <a:prstGeom prst="rect">
            <a:avLst/>
          </a:prstGeom>
          <a:solidFill>
            <a:srgbClr val="C45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3607308"/>
            <a:ext cx="531266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C45A20"/>
                </a:solidFill>
                <a:latin typeface="Noto Sans CJK JP"/>
                <a:ea typeface="Noto Sans CJK JP"/>
                <a:cs typeface="Noto Sans CJK JP"/>
              </a:rPr>
              <a:t>アーキ  どこに置き、何と繋ぐか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3973068"/>
            <a:ext cx="5285232" cy="172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コマごとの既知の数の先頭4つ。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6" y="3515868"/>
            <a:ext cx="5632704" cy="22905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63056" y="3515868"/>
            <a:ext cx="91440" cy="2290572"/>
          </a:xfrm>
          <a:prstGeom prst="rect">
            <a:avLst/>
          </a:prstGeom>
          <a:solidFill>
            <a:srgbClr val="B48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64224" y="3607308"/>
            <a:ext cx="531266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B48A28"/>
                </a:solidFill>
                <a:latin typeface="Noto Sans CJK JP"/>
                <a:ea typeface="Noto Sans CJK JP"/>
                <a:cs typeface="Noto Sans CJK JP"/>
              </a:rPr>
              <a:t>データの流れ  何が入り、何が出るか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64224" y="3973068"/>
            <a:ext cx="5285232" cy="172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接地表の列 → 加速の和に掛ける。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逆相は選べない。空中力の等式ゼロは無い。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09  09_MPC_Output_and_Receding_Horizon.md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97280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今の1発だけ使う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749039"/>
            <a:ext cx="1051560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0">
                <a:solidFill>
                  <a:srgbClr val="D7E0E0"/>
                </a:solidFill>
                <a:latin typeface="Noto Sans CJK JP"/>
                <a:ea typeface="Noto Sans CJK JP"/>
                <a:cs typeface="Noto Sans CJK JP"/>
              </a:rPr>
              <a:t>本文の結論の要約。節は写さない。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309360"/>
            <a:ext cx="6400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要約: 背景・意図・置き場・流れ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章ごと要約  ·  図と式  ·  00–19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22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097280"/>
            <a:ext cx="5632704" cy="22905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097280"/>
            <a:ext cx="91440" cy="2290572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1188720"/>
            <a:ext cx="531266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背景  なぜこの問題があるか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1554480"/>
            <a:ext cx="5285232" cy="172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未来全部はモータに出せない。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6" y="1097280"/>
            <a:ext cx="5632704" cy="22905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63056" y="1097280"/>
            <a:ext cx="91440" cy="229057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64224" y="1188720"/>
            <a:ext cx="531266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意図  何を達成したいか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64224" y="1554480"/>
            <a:ext cx="5285232" cy="172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最初のコマを切り、空中を消す。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3515868"/>
            <a:ext cx="5632704" cy="22905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3515868"/>
            <a:ext cx="91440" cy="2290572"/>
          </a:xfrm>
          <a:prstGeom prst="rect">
            <a:avLst/>
          </a:prstGeom>
          <a:solidFill>
            <a:srgbClr val="C45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3607308"/>
            <a:ext cx="531266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C45A20"/>
                </a:solidFill>
                <a:latin typeface="Noto Sans CJK JP"/>
                <a:ea typeface="Noto Sans CJK JP"/>
                <a:cs typeface="Noto Sans CJK JP"/>
              </a:rPr>
              <a:t>アーキ  どこに置き、何と繋ぐか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3973068"/>
            <a:ext cx="5285232" cy="172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切り出す箱。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6" y="3515868"/>
            <a:ext cx="5632704" cy="22905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63056" y="3515868"/>
            <a:ext cx="91440" cy="2290572"/>
          </a:xfrm>
          <a:prstGeom prst="rect">
            <a:avLst/>
          </a:prstGeom>
          <a:solidFill>
            <a:srgbClr val="B48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64224" y="3607308"/>
            <a:ext cx="531266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B48A28"/>
                </a:solidFill>
                <a:latin typeface="Noto Sans CJK JP"/>
                <a:ea typeface="Noto Sans CJK JP"/>
                <a:cs typeface="Noto Sans CJK JP"/>
              </a:rPr>
              <a:t>データの流れ  何が入り、何が出るか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64224" y="3973068"/>
            <a:ext cx="5285232" cy="172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系列 → 今の押し方。5回に1回だけ解く。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欲しい力 / 使う力 / 実力の3段を混ぜない。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10  10_Stance_and_Swing_Control.md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97280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同じ 0/1 で回す力を切替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749039"/>
            <a:ext cx="1051560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0">
                <a:solidFill>
                  <a:srgbClr val="D7E0E0"/>
                </a:solidFill>
                <a:latin typeface="Noto Sans CJK JP"/>
                <a:ea typeface="Noto Sans CJK JP"/>
                <a:cs typeface="Noto Sans CJK JP"/>
              </a:rPr>
              <a:t>本文の結論の要約。節は写さない。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309360"/>
            <a:ext cx="6400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要約: 背景・意図・置き場・流れ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章ごと要約  ·  図と式  ·  00–19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24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097280"/>
            <a:ext cx="5632704" cy="22905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097280"/>
            <a:ext cx="91440" cy="2290572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1188720"/>
            <a:ext cx="531266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背景  なぜこの問題があるか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1554480"/>
            <a:ext cx="5285232" cy="172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押す仕事と運ぶ仕事は別。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6" y="1097280"/>
            <a:ext cx="5632704" cy="22905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63056" y="1097280"/>
            <a:ext cx="91440" cy="229057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64224" y="1188720"/>
            <a:ext cx="531266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意図  何を達成したいか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64224" y="1554480"/>
            <a:ext cx="5285232" cy="172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押す力を写し、空中はずれ戻し。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3515868"/>
            <a:ext cx="5632704" cy="22905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3515868"/>
            <a:ext cx="91440" cy="2290572"/>
          </a:xfrm>
          <a:prstGeom prst="rect">
            <a:avLst/>
          </a:prstGeom>
          <a:solidFill>
            <a:srgbClr val="C45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3607308"/>
            <a:ext cx="531266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C45A20"/>
                </a:solidFill>
                <a:latin typeface="Noto Sans CJK JP"/>
                <a:ea typeface="Noto Sans CJK JP"/>
                <a:cs typeface="Noto Sans CJK JP"/>
              </a:rPr>
              <a:t>アーキ  どこに置き、何と繋ぐか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3973068"/>
            <a:ext cx="5285232" cy="172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回す力を作る箱。全身の再最適化ではない。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6" y="3515868"/>
            <a:ext cx="5632704" cy="22905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63056" y="3515868"/>
            <a:ext cx="91440" cy="2290572"/>
          </a:xfrm>
          <a:prstGeom prst="rect">
            <a:avLst/>
          </a:prstGeom>
          <a:solidFill>
            <a:srgbClr val="B48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64224" y="3607308"/>
            <a:ext cx="531266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B48A28"/>
                </a:solidFill>
                <a:latin typeface="Noto Sans CJK JP"/>
                <a:ea typeface="Noto Sans CJK JP"/>
                <a:cs typeface="Noto Sans CJK JP"/>
              </a:rPr>
              <a:t>データの流れ  何が入り、何が出るか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64224" y="3973068"/>
            <a:ext cx="5285232" cy="172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押し方と着地点 → 脚ごと3つの回す力。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ずれ戻しは2回足す。実際の接触では切替ない。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11  11_Joint_Torque_and_MuJoCo_Closed_Loop.md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97280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切って、1歩進める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749039"/>
            <a:ext cx="1051560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0">
                <a:solidFill>
                  <a:srgbClr val="D7E0E0"/>
                </a:solidFill>
                <a:latin typeface="Noto Sans CJK JP"/>
                <a:ea typeface="Noto Sans CJK JP"/>
                <a:cs typeface="Noto Sans CJK JP"/>
              </a:rPr>
              <a:t>本文の結論の要約。節は写さない。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309360"/>
            <a:ext cx="6400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要約: 背景・意図・置き場・流れ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章ごと要約  ·  図と式  ·  00–19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097280"/>
            <a:ext cx="5632704" cy="22905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097280"/>
            <a:ext cx="91440" cy="2290572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1188720"/>
            <a:ext cx="531266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背景  なぜこの問題があるか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1554480"/>
            <a:ext cx="5285232" cy="172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定格超えは模型の外。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6" y="1097280"/>
            <a:ext cx="5632704" cy="22905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63056" y="1097280"/>
            <a:ext cx="91440" cy="229057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64224" y="1188720"/>
            <a:ext cx="531266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意図  何を達成したいか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64224" y="1554480"/>
            <a:ext cx="5285232" cy="172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9割で切り、物体を1コマ進める。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3515868"/>
            <a:ext cx="5632704" cy="22905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3515868"/>
            <a:ext cx="91440" cy="2290572"/>
          </a:xfrm>
          <a:prstGeom prst="rect">
            <a:avLst/>
          </a:prstGeom>
          <a:solidFill>
            <a:srgbClr val="C45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3607308"/>
            <a:ext cx="531266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C45A20"/>
                </a:solidFill>
                <a:latin typeface="Noto Sans CJK JP"/>
                <a:ea typeface="Noto Sans CJK JP"/>
                <a:cs typeface="Noto Sans CJK JP"/>
              </a:rPr>
              <a:t>アーキ  どこに置き、何と繋ぐか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3973068"/>
            <a:ext cx="5285232" cy="172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周回プログラム。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6" y="3515868"/>
            <a:ext cx="5632704" cy="22905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63056" y="3515868"/>
            <a:ext cx="91440" cy="2290572"/>
          </a:xfrm>
          <a:prstGeom prst="rect">
            <a:avLst/>
          </a:prstGeom>
          <a:solidFill>
            <a:srgbClr val="B48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64224" y="3607308"/>
            <a:ext cx="531266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B48A28"/>
                </a:solidFill>
                <a:latin typeface="Noto Sans CJK JP"/>
                <a:ea typeface="Noto Sans CJK JP"/>
                <a:cs typeface="Noto Sans CJK JP"/>
              </a:rPr>
              <a:t>データの流れ  何が入り、何が出るか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64224" y="3973068"/>
            <a:ext cx="5285232" cy="172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回す力 → 切る → 入れ物 → 次の体。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実力は画面用。制御の切替には使わない。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12  12_Speed_Frequency_Duty_and_Stride.md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97280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速さ・歩の回数・間隔は独立ではない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749039"/>
            <a:ext cx="1051560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0">
                <a:solidFill>
                  <a:srgbClr val="D7E0E0"/>
                </a:solidFill>
                <a:latin typeface="Noto Sans CJK JP"/>
                <a:ea typeface="Noto Sans CJK JP"/>
                <a:cs typeface="Noto Sans CJK JP"/>
              </a:rPr>
              <a:t>本文の結論の要約。節は写さない。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309360"/>
            <a:ext cx="6400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要約: 背景・意図・置き場・流れ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章ごと要約  ·  図と式  ·  00–19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28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097280"/>
            <a:ext cx="5632704" cy="22905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097280"/>
            <a:ext cx="91440" cy="2290572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1188720"/>
            <a:ext cx="531266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背景  なぜこの問題があるか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1554480"/>
            <a:ext cx="5285232" cy="172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遅い足取りのまま速い指令を出すと、脚が置いていかれる。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6" y="1097280"/>
            <a:ext cx="5632704" cy="22905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63056" y="1097280"/>
            <a:ext cx="91440" cy="229057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64224" y="1188720"/>
            <a:ext cx="531266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意図  何を達成したいか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64224" y="1554480"/>
            <a:ext cx="5285232" cy="172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間隔 = 速さ ÷ 歩の回数、を見る。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3515868"/>
            <a:ext cx="5632704" cy="22905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3515868"/>
            <a:ext cx="91440" cy="2290572"/>
          </a:xfrm>
          <a:prstGeom prst="rect">
            <a:avLst/>
          </a:prstGeom>
          <a:solidFill>
            <a:srgbClr val="C45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3607308"/>
            <a:ext cx="531266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C45A20"/>
                </a:solidFill>
                <a:latin typeface="Noto Sans CJK JP"/>
                <a:ea typeface="Noto Sans CJK JP"/>
                <a:cs typeface="Noto Sans CJK JP"/>
              </a:rPr>
              <a:t>アーキ  どこに置き、何と繋ぐか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3973068"/>
            <a:ext cx="5285232" cy="172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歩きの設定。候補比較はオフ。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6" y="3515868"/>
            <a:ext cx="5632704" cy="22905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63056" y="3515868"/>
            <a:ext cx="91440" cy="2290572"/>
          </a:xfrm>
          <a:prstGeom prst="rect">
            <a:avLst/>
          </a:prstGeom>
          <a:solidFill>
            <a:srgbClr val="B48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64224" y="3607308"/>
            <a:ext cx="531266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B48A28"/>
                </a:solidFill>
                <a:latin typeface="Noto Sans CJK JP"/>
                <a:ea typeface="Noto Sans CJK JP"/>
                <a:cs typeface="Noto Sans CJK JP"/>
              </a:rPr>
              <a:t>データの流れ  何が入り、何が出るか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64224" y="3973068"/>
            <a:ext cx="5285232" cy="172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速さ・回数・割合 → 間隔と空中時間。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候補比較は目標速さを決めない。着地点も再計算しない。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13  13_Feasibility_on_Rough_Terrain.md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97280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着地が安全でも足りない（理論）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749039"/>
            <a:ext cx="1051560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0">
                <a:solidFill>
                  <a:srgbClr val="D7E0E0"/>
                </a:solidFill>
                <a:latin typeface="Noto Sans CJK JP"/>
                <a:ea typeface="Noto Sans CJK JP"/>
                <a:cs typeface="Noto Sans CJK JP"/>
              </a:rPr>
              <a:t>本文の結論の要約。節は写さない。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309360"/>
            <a:ext cx="6400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要約: 背景・意図・置き場・流れ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章ごと要約  ·  図と式  ·  00–19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30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097280"/>
            <a:ext cx="5632704" cy="22905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097280"/>
            <a:ext cx="91440" cy="2290572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1188720"/>
            <a:ext cx="531266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背景  なぜこの問題があるか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1554480"/>
            <a:ext cx="5285232" cy="172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届かない、間に合わない、支えられない。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6" y="1097280"/>
            <a:ext cx="5632704" cy="22905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63056" y="1097280"/>
            <a:ext cx="91440" cy="229057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64224" y="1188720"/>
            <a:ext cx="531266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意図  何を達成したいか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64224" y="1554480"/>
            <a:ext cx="5285232" cy="172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3条件を分けて教える。判定は無いと言う。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3515868"/>
            <a:ext cx="5632704" cy="22905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3515868"/>
            <a:ext cx="91440" cy="2290572"/>
          </a:xfrm>
          <a:prstGeom prst="rect">
            <a:avLst/>
          </a:prstGeom>
          <a:solidFill>
            <a:srgbClr val="C45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3607308"/>
            <a:ext cx="531266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C45A20"/>
                </a:solidFill>
                <a:latin typeface="Noto Sans CJK JP"/>
                <a:ea typeface="Noto Sans CJK JP"/>
                <a:cs typeface="Noto Sans CJK JP"/>
              </a:rPr>
              <a:t>アーキ  どこに置き、何と繋ぐか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3973068"/>
            <a:ext cx="5285232" cy="172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理論章。見た目適応はオフ。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6" y="3515868"/>
            <a:ext cx="5632704" cy="22905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63056" y="3515868"/>
            <a:ext cx="91440" cy="2290572"/>
          </a:xfrm>
          <a:prstGeom prst="rect">
            <a:avLst/>
          </a:prstGeom>
          <a:solidFill>
            <a:srgbClr val="B48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64224" y="3607308"/>
            <a:ext cx="531266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B48A28"/>
                </a:solidFill>
                <a:latin typeface="Noto Sans CJK JP"/>
                <a:ea typeface="Noto Sans CJK JP"/>
                <a:cs typeface="Noto Sans CJK JP"/>
              </a:rPr>
              <a:t>データの流れ  何が入り、何が出るか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64224" y="3973068"/>
            <a:ext cx="5285232" cy="172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候補はそのまま使う。交差を取らない。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3集合の積は理論。標準コードに関数は無い。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14  14_MPC_and_Controller_Tuning.md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97280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一度に1層だけ触る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749039"/>
            <a:ext cx="1051560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0">
                <a:solidFill>
                  <a:srgbClr val="D7E0E0"/>
                </a:solidFill>
                <a:latin typeface="Noto Sans CJK JP"/>
                <a:ea typeface="Noto Sans CJK JP"/>
                <a:cs typeface="Noto Sans CJK JP"/>
              </a:rPr>
              <a:t>本文の結論の要約。節は写さない。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309360"/>
            <a:ext cx="6400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要約: 背景・意図・置き場・流れ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章ごと要約  ·  図と式  ·  00–19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32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097280"/>
            <a:ext cx="5632704" cy="22905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097280"/>
            <a:ext cx="91440" cy="2290572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1188720"/>
            <a:ext cx="531266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背景  なぜこの問題があるか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1554480"/>
            <a:ext cx="5285232" cy="172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罰と歩きと空中制御が同時に効く。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6" y="1097280"/>
            <a:ext cx="5632704" cy="22905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63056" y="1097280"/>
            <a:ext cx="91440" cy="229057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64224" y="1188720"/>
            <a:ext cx="531266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意図  何を達成したいか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64224" y="1554480"/>
            <a:ext cx="5285232" cy="172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運用と歩きから始める。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3515868"/>
            <a:ext cx="5632704" cy="22905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3515868"/>
            <a:ext cx="91440" cy="2290572"/>
          </a:xfrm>
          <a:prstGeom prst="rect">
            <a:avLst/>
          </a:prstGeom>
          <a:solidFill>
            <a:srgbClr val="C45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3607308"/>
            <a:ext cx="531266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C45A20"/>
                </a:solidFill>
                <a:latin typeface="Noto Sans CJK JP"/>
                <a:ea typeface="Noto Sans CJK JP"/>
                <a:cs typeface="Noto Sans CJK JP"/>
              </a:rPr>
              <a:t>アーキ  どこに置き、何と繋ぐか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3973068"/>
            <a:ext cx="5285232" cy="172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重み関数と歩きの設定。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6" y="3515868"/>
            <a:ext cx="5632704" cy="22905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63056" y="3515868"/>
            <a:ext cx="91440" cy="2290572"/>
          </a:xfrm>
          <a:prstGeom prst="rect">
            <a:avLst/>
          </a:prstGeom>
          <a:solidFill>
            <a:srgbClr val="B48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64224" y="3607308"/>
            <a:ext cx="531266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B48A28"/>
                </a:solidFill>
                <a:latin typeface="Noto Sans CJK JP"/>
                <a:ea typeface="Noto Sans CJK JP"/>
                <a:cs typeface="Noto Sans CJK JP"/>
              </a:rPr>
              <a:t>データの流れ  何が入り、何が出るか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64224" y="3973068"/>
            <a:ext cx="5285232" cy="172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症状 → 1層変更 → 同じ記録で比較。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質量・定格は仕様。目標の力と実力は別列。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15  15_Automatic_Tuning_and_Sim_to_Real.md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97280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何が自動で、何が無いか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749039"/>
            <a:ext cx="1051560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0">
                <a:solidFill>
                  <a:srgbClr val="D7E0E0"/>
                </a:solidFill>
                <a:latin typeface="Noto Sans CJK JP"/>
                <a:ea typeface="Noto Sans CJK JP"/>
                <a:cs typeface="Noto Sans CJK JP"/>
              </a:rPr>
              <a:t>本文の結論の要約。節は写さない。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309360"/>
            <a:ext cx="6400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要約: 背景・意図・置き場・流れ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章ごと要約  ·  図と式  ·  00–19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34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097280"/>
            <a:ext cx="5632704" cy="22905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097280"/>
            <a:ext cx="91440" cy="2290572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1188720"/>
            <a:ext cx="531266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背景  なぜこの問題があるか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1554480"/>
            <a:ext cx="5285232" cy="172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フラグ名を自動化と読むと、無い機能を期待する。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6" y="1097280"/>
            <a:ext cx="5632704" cy="22905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63056" y="1097280"/>
            <a:ext cx="91440" cy="229057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64224" y="1188720"/>
            <a:ext cx="531266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意図  何を達成したいか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64224" y="1554480"/>
            <a:ext cx="5285232" cy="172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オン / オフ / 未実装を分ける。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3515868"/>
            <a:ext cx="5632704" cy="22905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3515868"/>
            <a:ext cx="91440" cy="2290572"/>
          </a:xfrm>
          <a:prstGeom prst="rect">
            <a:avLst/>
          </a:prstGeom>
          <a:solidFill>
            <a:srgbClr val="C45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3607308"/>
            <a:ext cx="531266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C45A20"/>
                </a:solidFill>
                <a:latin typeface="Noto Sans CJK JP"/>
                <a:ea typeface="Noto Sans CJK JP"/>
                <a:cs typeface="Noto Sans CJK JP"/>
              </a:rPr>
              <a:t>アーキ  どこに置き、何と繋ぐか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3973068"/>
            <a:ext cx="5285232" cy="172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慣性の再計算と着地点最適化が標準オン。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6" y="3515868"/>
            <a:ext cx="5632704" cy="22905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63056" y="3515868"/>
            <a:ext cx="91440" cy="2290572"/>
          </a:xfrm>
          <a:prstGeom prst="rect">
            <a:avLst/>
          </a:prstGeom>
          <a:solidFill>
            <a:srgbClr val="B48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64224" y="3607308"/>
            <a:ext cx="531266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B48A28"/>
                </a:solidFill>
                <a:latin typeface="Noto Sans CJK JP"/>
                <a:ea typeface="Noto Sans CJK JP"/>
                <a:cs typeface="Noto Sans CJK JP"/>
              </a:rPr>
              <a:t>データの流れ  何が入り、何が出るか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64224" y="3973068"/>
            <a:ext cx="5285232" cy="172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罰の数を外側で更新する矢印は無い。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別の探し方の予測制御 ≠ 罰の外側探索。実機の遅れは未確認。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16  16_Code_Map_and_Call_Graph.md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97280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関数の木と、切った枝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749039"/>
            <a:ext cx="1051560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0">
                <a:solidFill>
                  <a:srgbClr val="D7E0E0"/>
                </a:solidFill>
                <a:latin typeface="Noto Sans CJK JP"/>
                <a:ea typeface="Noto Sans CJK JP"/>
                <a:cs typeface="Noto Sans CJK JP"/>
              </a:rPr>
              <a:t>本文の結論の要約。節は写さない。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309360"/>
            <a:ext cx="6400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要約: 背景・意図・置き場・流れ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章ごと要約  ·  図と式  ·  00–19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36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097280"/>
            <a:ext cx="5632704" cy="22905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097280"/>
            <a:ext cx="91440" cy="2290572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1188720"/>
            <a:ext cx="531266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背景  なぜこの問題があるか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1554480"/>
            <a:ext cx="5285232" cy="172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全部追うと一本道が見えない。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6" y="1097280"/>
            <a:ext cx="5632704" cy="22905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63056" y="1097280"/>
            <a:ext cx="91440" cy="229057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64224" y="1188720"/>
            <a:ext cx="531266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意図  何を達成したいか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64224" y="1554480"/>
            <a:ext cx="5285232" cy="172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標準の呼出だけを1本にする。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3515868"/>
            <a:ext cx="5632704" cy="22905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3515868"/>
            <a:ext cx="91440" cy="2290572"/>
          </a:xfrm>
          <a:prstGeom prst="rect">
            <a:avLst/>
          </a:prstGeom>
          <a:solidFill>
            <a:srgbClr val="C45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3607308"/>
            <a:ext cx="531266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C45A20"/>
                </a:solidFill>
                <a:latin typeface="Noto Sans CJK JP"/>
                <a:ea typeface="Noto Sans CJK JP"/>
                <a:cs typeface="Noto Sans CJK JP"/>
              </a:rPr>
              <a:t>アーキ  どこに置き、何と繋ぐか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3973068"/>
            <a:ext cx="5285232" cy="172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周回 → まとめ役 → 状態箱 / 未来箱。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6" y="3515868"/>
            <a:ext cx="5632704" cy="22905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63056" y="3515868"/>
            <a:ext cx="91440" cy="2290572"/>
          </a:xfrm>
          <a:prstGeom prst="rect">
            <a:avLst/>
          </a:prstGeom>
          <a:solidFill>
            <a:srgbClr val="B48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64224" y="3607308"/>
            <a:ext cx="531266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B48A28"/>
                </a:solidFill>
                <a:latin typeface="Noto Sans CJK JP"/>
                <a:ea typeface="Noto Sans CJK JP"/>
                <a:cs typeface="Noto Sans CJK JP"/>
              </a:rPr>
              <a:t>データの流れ  何が入り、何が出るか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64224" y="3973068"/>
            <a:ext cx="5285232" cy="172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入口は周回。中心は行動計算。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リズム関数の戻り接地は捨てる。表は別関数。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17  17_Cursor_Analysis_Workflow.md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97280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狭い資料だけで照合する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749039"/>
            <a:ext cx="1051560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0">
                <a:solidFill>
                  <a:srgbClr val="D7E0E0"/>
                </a:solidFill>
                <a:latin typeface="Noto Sans CJK JP"/>
                <a:ea typeface="Noto Sans CJK JP"/>
                <a:cs typeface="Noto Sans CJK JP"/>
              </a:rPr>
              <a:t>本文の結論の要約。節は写さない。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309360"/>
            <a:ext cx="6400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要約: 背景・意図・置き場・流れ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章ごと要約  ·  図と式  ·  00–19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38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097280"/>
            <a:ext cx="5632704" cy="22905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097280"/>
            <a:ext cx="91440" cy="2290572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1188720"/>
            <a:ext cx="531266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背景  なぜこの問題があるか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1554480"/>
            <a:ext cx="5285232" cy="172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全体を渡すと、オフの枝まで混ざる。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6" y="1097280"/>
            <a:ext cx="5632704" cy="22905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63056" y="1097280"/>
            <a:ext cx="91440" cy="229057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64224" y="1188720"/>
            <a:ext cx="531266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意図  何を達成したいか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64224" y="1554480"/>
            <a:ext cx="5285232" cy="172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入口3つと、対象章1つ。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3515868"/>
            <a:ext cx="5632704" cy="22905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3515868"/>
            <a:ext cx="91440" cy="2290572"/>
          </a:xfrm>
          <a:prstGeom prst="rect">
            <a:avLst/>
          </a:prstGeom>
          <a:solidFill>
            <a:srgbClr val="C45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3607308"/>
            <a:ext cx="531266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C45A20"/>
                </a:solidFill>
                <a:latin typeface="Noto Sans CJK JP"/>
                <a:ea typeface="Noto Sans CJK JP"/>
                <a:cs typeface="Noto Sans CJK JP"/>
              </a:rPr>
              <a:t>アーキ  どこに置き、何と繋ぐか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3973068"/>
            <a:ext cx="5285232" cy="172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00、02、16、対象章、そのプログラム。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6" y="3515868"/>
            <a:ext cx="5632704" cy="22905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63056" y="3515868"/>
            <a:ext cx="91440" cy="2290572"/>
          </a:xfrm>
          <a:prstGeom prst="rect">
            <a:avLst/>
          </a:prstGeom>
          <a:solidFill>
            <a:srgbClr val="B48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64224" y="3607308"/>
            <a:ext cx="531266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B48A28"/>
                </a:solidFill>
                <a:latin typeface="Noto Sans CJK JP"/>
                <a:ea typeface="Noto Sans CJK JP"/>
                <a:cs typeface="Noto Sans CJK JP"/>
              </a:rPr>
              <a:t>データの流れ  何が入り、何が出るか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64224" y="3973068"/>
            <a:ext cx="5285232" cy="172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結論は本文。途中は解析ログ。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分析中は制御コードを変えない。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18  18_Experiments_and_Research_Roadmap.md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97280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変える束は1つ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749039"/>
            <a:ext cx="1051560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0">
                <a:solidFill>
                  <a:srgbClr val="D7E0E0"/>
                </a:solidFill>
                <a:latin typeface="Noto Sans CJK JP"/>
                <a:ea typeface="Noto Sans CJK JP"/>
                <a:cs typeface="Noto Sans CJK JP"/>
              </a:rPr>
              <a:t>本文の結論の要約。節は写さない。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309360"/>
            <a:ext cx="6400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要約: 背景・意図・置き場・流れ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章ごと要約  ·  図と式  ·  00–19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40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097280"/>
            <a:ext cx="5632704" cy="22905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097280"/>
            <a:ext cx="91440" cy="2290572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1188720"/>
            <a:ext cx="531266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背景  なぜこの問題があるか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1554480"/>
            <a:ext cx="5285232" cy="172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凸凹のまま低速歩きを取ると、歩きと地形が交ざる。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6" y="1097280"/>
            <a:ext cx="5632704" cy="22905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63056" y="1097280"/>
            <a:ext cx="91440" cy="229057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64224" y="1188720"/>
            <a:ext cx="531266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意図  何を達成したいか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64224" y="1554480"/>
            <a:ext cx="5285232" cy="172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比べる基準の走りを先に取る。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3515868"/>
            <a:ext cx="5632704" cy="22905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3515868"/>
            <a:ext cx="91440" cy="2290572"/>
          </a:xfrm>
          <a:prstGeom prst="rect">
            <a:avLst/>
          </a:prstGeom>
          <a:solidFill>
            <a:srgbClr val="C45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3607308"/>
            <a:ext cx="531266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C45A20"/>
                </a:solidFill>
                <a:latin typeface="Noto Sans CJK JP"/>
                <a:ea typeface="Noto Sans CJK JP"/>
                <a:cs typeface="Noto Sans CJK JP"/>
              </a:rPr>
              <a:t>アーキ  どこに置き、何と繋ぐか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3973068"/>
            <a:ext cx="5285232" cy="172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低速の対角歩き、平坦、摩擦一点、固定指令。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6" y="3515868"/>
            <a:ext cx="5632704" cy="22905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63056" y="3515868"/>
            <a:ext cx="91440" cy="2290572"/>
          </a:xfrm>
          <a:prstGeom prst="rect">
            <a:avLst/>
          </a:prstGeom>
          <a:solidFill>
            <a:srgbClr val="B48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64224" y="3607308"/>
            <a:ext cx="531266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B48A28"/>
                </a:solidFill>
                <a:latin typeface="Noto Sans CJK JP"/>
                <a:ea typeface="Noto Sans CJK JP"/>
                <a:cs typeface="Noto Sans CJK JP"/>
              </a:rPr>
              <a:t>データの流れ  何が入り、何が出るか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64224" y="3973068"/>
            <a:ext cx="5285232" cy="172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固定するものと、変える1群と、記録列を分ける。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ディスク既定の場面は凸凹。歩行の基準は平坦を明示。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19  19_Conversation_Coverage_Map.md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97280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論点は、どの本文にあるか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749039"/>
            <a:ext cx="1051560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0">
                <a:solidFill>
                  <a:srgbClr val="D7E0E0"/>
                </a:solidFill>
                <a:latin typeface="Noto Sans CJK JP"/>
                <a:ea typeface="Noto Sans CJK JP"/>
                <a:cs typeface="Noto Sans CJK JP"/>
              </a:rPr>
              <a:t>本文の結論の要約。節は写さない。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309360"/>
            <a:ext cx="6400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要約: 背景・意図・置き場・流れ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章ごと要約  ·  図と式  ·  00–19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42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097280"/>
            <a:ext cx="5632704" cy="22905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097280"/>
            <a:ext cx="91440" cy="2290572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1188720"/>
            <a:ext cx="531266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背景  なぜこの問題があるか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1554480"/>
            <a:ext cx="5285232" cy="172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同じ問いが章ごとに違う答えだと壊れる。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6" y="1097280"/>
            <a:ext cx="5632704" cy="22905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63056" y="1097280"/>
            <a:ext cx="91440" cy="229057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64224" y="1188720"/>
            <a:ext cx="531266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意図  何を達成したいか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64224" y="1554480"/>
            <a:ext cx="5285232" cy="172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対応表を1か所に置く。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3515868"/>
            <a:ext cx="5632704" cy="22905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3515868"/>
            <a:ext cx="91440" cy="2290572"/>
          </a:xfrm>
          <a:prstGeom prst="rect">
            <a:avLst/>
          </a:prstGeom>
          <a:solidFill>
            <a:srgbClr val="C45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3607308"/>
            <a:ext cx="531266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C45A20"/>
                </a:solidFill>
                <a:latin typeface="Noto Sans CJK JP"/>
                <a:ea typeface="Noto Sans CJK JP"/>
                <a:cs typeface="Noto Sans CJK JP"/>
              </a:rPr>
              <a:t>アーキ  どこに置き、何と繋ぐか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3973068"/>
            <a:ext cx="5285232" cy="172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本文一式。無い問いは未確認へ。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6" y="3515868"/>
            <a:ext cx="5632704" cy="22905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63056" y="3515868"/>
            <a:ext cx="91440" cy="2290572"/>
          </a:xfrm>
          <a:prstGeom prst="rect">
            <a:avLst/>
          </a:prstGeom>
          <a:solidFill>
            <a:srgbClr val="B48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64224" y="3607308"/>
            <a:ext cx="531266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B48A28"/>
                </a:solidFill>
                <a:latin typeface="Noto Sans CJK JP"/>
                <a:ea typeface="Noto Sans CJK JP"/>
                <a:cs typeface="Noto Sans CJK JP"/>
              </a:rPr>
              <a:t>データの流れ  何が入り、何が出るか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64224" y="3973068"/>
            <a:ext cx="5285232" cy="172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問い → 19 の表 → 正本の章。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新しい論点は既存章へ足すか、未確認へ残す。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A–F  付録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97280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索引。本文へ戻る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749039"/>
            <a:ext cx="1051560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0">
                <a:solidFill>
                  <a:srgbClr val="D7E0E0"/>
                </a:solidFill>
                <a:latin typeface="Noto Sans CJK JP"/>
                <a:ea typeface="Noto Sans CJK JP"/>
                <a:cs typeface="Noto Sans CJK JP"/>
              </a:rPr>
              <a:t>ここには新しい理論を置かない。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309360"/>
            <a:ext cx="6400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付録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6つの引き出し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章ごと要約  ·  図と式  ·  00–19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44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691640"/>
            <a:ext cx="3700272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691640"/>
            <a:ext cx="3700272" cy="73152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2064" y="1856232"/>
            <a:ext cx="342595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A 変数  /  B 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" y="2514600"/>
            <a:ext cx="3425952" cy="2971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数の並び・単位・向き。</a:t>
            </a:r>
          </a:p>
          <a:p>
            <a:pPr>
              <a:spcBef>
                <a:spcPts val="5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式がどの章にあるか。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30624" y="1691640"/>
            <a:ext cx="3700272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30624" y="1691640"/>
            <a:ext cx="3700272" cy="7315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76928" y="1856232"/>
            <a:ext cx="342595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C つまみ  /  D 関数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76928" y="2514600"/>
            <a:ext cx="3425952" cy="2971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触ってよい設定。</a:t>
            </a:r>
          </a:p>
          <a:p>
            <a:pPr>
              <a:spcBef>
                <a:spcPts val="5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ファイルの1行。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5488" y="1691640"/>
            <a:ext cx="3700272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95488" y="1691640"/>
            <a:ext cx="3700272" cy="73152"/>
          </a:xfrm>
          <a:prstGeom prst="rect">
            <a:avLst/>
          </a:prstGeom>
          <a:solidFill>
            <a:srgbClr val="C45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41792" y="1856232"/>
            <a:ext cx="342595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E 旧誤り  /  F 未確認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41792" y="2514600"/>
            <a:ext cx="3425952" cy="2971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間違っていた理由。</a:t>
            </a:r>
          </a:p>
          <a:p>
            <a:pPr>
              <a:spcBef>
                <a:spcPts val="5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まだ決められないこと。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正しい文は各本文。付録 E は理由だけ。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閉じ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速習のあと、開くもの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章ごと要約  ·  図と式  ·  00–19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45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1737360"/>
            <a:ext cx="2798064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737360"/>
            <a:ext cx="2798064" cy="292608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737360"/>
            <a:ext cx="2798064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図で掴む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4" y="2084831"/>
            <a:ext cx="2688336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この 03 / 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4" y="2578608"/>
            <a:ext cx="2688336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要約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44952" y="2368296"/>
            <a:ext cx="256032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&gt;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27832" y="1737360"/>
            <a:ext cx="2798064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27832" y="1737360"/>
            <a:ext cx="2798064" cy="292608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27832" y="1737360"/>
            <a:ext cx="2798064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型を固定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82696" y="2084831"/>
            <a:ext cx="2688336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本文 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82696" y="2578608"/>
            <a:ext cx="2688336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境界表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52744" y="2368296"/>
            <a:ext cx="256032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&gt;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35624" y="1737360"/>
            <a:ext cx="2798064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35624" y="1737360"/>
            <a:ext cx="2798064" cy="292608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35624" y="1737360"/>
            <a:ext cx="2798064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1ループ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90488" y="2084831"/>
            <a:ext cx="2688336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周回プログラム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90488" y="2578608"/>
            <a:ext cx="2688336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コード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0536" y="2368296"/>
            <a:ext cx="256032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&gt;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43416" y="1737360"/>
            <a:ext cx="2798064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43416" y="1737360"/>
            <a:ext cx="2798064" cy="292608"/>
          </a:xfrm>
          <a:prstGeom prst="rect">
            <a:avLst/>
          </a:prstGeom>
          <a:solidFill>
            <a:srgbClr val="C45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43416" y="1737360"/>
            <a:ext cx="2798064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1章だけ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98280" y="2084831"/>
            <a:ext cx="2688336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対象の本文と .py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98280" y="2578608"/>
            <a:ext cx="2688336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深く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01 と 02 の長いパワポは、見出し転写用として残してある。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